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>
        <p:scale>
          <a:sx n="66" d="100"/>
          <a:sy n="66" d="100"/>
        </p:scale>
        <p:origin x="3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2557F-0989-4856-BEC8-39087D6AD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154F47-04CB-4800-B5C1-75B9B3B11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5AC0D-A3B8-46C8-AC5A-63E329BE5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9294-CC0B-48C1-BD51-B8AC9BE1E4D1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497CD-D058-4790-AD3D-442A7914E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57B8F-6DF8-4D63-906C-F7CFD5B00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51920-620D-4A0A-86F4-659053985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9061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AF67C-9E3B-4EC8-97D5-09317A410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C02F0-615A-4BCE-AB8E-F14140C58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A692A-2197-402E-95E0-95D15EF6D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9294-CC0B-48C1-BD51-B8AC9BE1E4D1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45A69-BD56-4169-99B1-9C0F0856C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2785A-0146-4377-B30E-C40E4505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51920-620D-4A0A-86F4-659053985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847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6BF35-784C-4CCC-B81B-F1FE070EA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F749F-E291-44F5-AF11-70C87D06D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5CE6B-DA69-4082-9DB6-93FB3E217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9294-CC0B-48C1-BD51-B8AC9BE1E4D1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320A-FDE8-475A-8669-F31CB5D6D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4BF4F-268C-4FE4-9366-7D1F8DDE7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51920-620D-4A0A-86F4-659053985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6243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43D86-0C0E-4D7C-B5C1-375C0268D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A8600-7E51-4079-B272-3A9A3A1AD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98E52-9983-49CF-8775-A1E5042D0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5E2D4-3EBE-4401-BF4F-5A74527A5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9294-CC0B-48C1-BD51-B8AC9BE1E4D1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81474-2BC9-458B-89E8-94E8C4ED2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A5CBA-52F7-4AC7-925D-D3C70BB86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51920-620D-4A0A-86F4-659053985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294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03101-04A3-40A4-90D6-2CB08DC15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8D2D7-295A-446C-A668-F60589C92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8944C-F915-4BA1-9946-6DEDBDC17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CA8E49-0EB4-4550-AAC9-6DE1495983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0F0797-0A62-4802-8797-766C17BEA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5152AC-547D-45C0-B124-FF9B91EEE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9294-CC0B-48C1-BD51-B8AC9BE1E4D1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804128-6BF8-4596-BE1F-04ABBD82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716814-745C-4185-AA05-28CA2CDA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51920-620D-4A0A-86F4-659053985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147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E220A-6FE8-46E5-AAB3-0FAB22D74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D26E88-3550-41DF-8F0B-82FA3506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9294-CC0B-48C1-BD51-B8AC9BE1E4D1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4DEB7B-DF62-4D4B-BE30-C247C03BA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FCDF16-0CA4-4E56-AF9A-1E2279136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51920-620D-4A0A-86F4-659053985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478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1ED98E-55EB-4E41-BF56-7762D231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9294-CC0B-48C1-BD51-B8AC9BE1E4D1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AE99AE-D595-443A-BD43-C8A815FAF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459E5-2172-4929-B7CF-CEA88FF4A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51920-620D-4A0A-86F4-659053985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9869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48342-21D5-4F66-A542-0CEC7681B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F5A1B-FCC9-49B2-A281-08D9B8976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B2A8A-2DAE-4C19-B15E-079BECFDE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034ACE-CAED-4208-9533-9792D4E81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9294-CC0B-48C1-BD51-B8AC9BE1E4D1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BFCAA-AA1C-4FF6-89FD-05FA4856C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5B052-4ABC-4011-8251-3D6D6999D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51920-620D-4A0A-86F4-659053985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009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74B8-D2DC-4FA8-A463-E9C4333B4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7ECF3A-5431-498C-9E10-CF1BCC4CA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C0838-595F-42BF-93F4-2B26CCD03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010F7-B517-45EC-8FD1-73CFDBD43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9294-CC0B-48C1-BD51-B8AC9BE1E4D1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83A67-EBA1-4B88-9066-FADAEA91C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47CDA-E618-46AB-9BBA-6DC689818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51920-620D-4A0A-86F4-659053985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0625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12A46-E727-46AD-994C-D3EBBF41E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44980A-F233-4E49-9D1C-4E3B15A9A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E5BDC-253D-4095-9CE3-F1B58C4E1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9294-CC0B-48C1-BD51-B8AC9BE1E4D1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2DE2D-1A9E-4EC6-9926-1BB010DD3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45DBA-8158-45C8-B5A7-C16BF2254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51920-620D-4A0A-86F4-659053985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0221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29A641-1444-4F54-9E09-C31672DFB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82DEE-19D2-42A8-997C-D6F37485A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F0687-955D-4C86-B73D-69C33C058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9294-CC0B-48C1-BD51-B8AC9BE1E4D1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B8F9F-D402-4312-A901-FCCFE99C6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81C7F-A0A8-44F3-B861-6290EE2EC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51920-620D-4A0A-86F4-659053985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1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53880A-E137-4149-98A7-6ABA1CF1A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8CF1E-042F-4507-803D-CDC38C4DA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955DC-A5AF-4A4B-9527-4ECE906D3C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99294-CC0B-48C1-BD51-B8AC9BE1E4D1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655BA-B96E-43F9-BB49-33178B35C1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D0C2D-C1E1-403A-B748-48297E057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51920-620D-4A0A-86F4-6590539858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24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797E8E9-D844-40ED-8C02-CFB0386F4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014389"/>
              </p:ext>
            </p:extLst>
          </p:nvPr>
        </p:nvGraphicFramePr>
        <p:xfrm>
          <a:off x="167637" y="1414780"/>
          <a:ext cx="11856726" cy="363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17">
                  <a:extLst>
                    <a:ext uri="{9D8B030D-6E8A-4147-A177-3AD203B41FA5}">
                      <a16:colId xmlns:a16="http://schemas.microsoft.com/office/drawing/2014/main" val="538028472"/>
                    </a:ext>
                  </a:extLst>
                </a:gridCol>
                <a:gridCol w="520717">
                  <a:extLst>
                    <a:ext uri="{9D8B030D-6E8A-4147-A177-3AD203B41FA5}">
                      <a16:colId xmlns:a16="http://schemas.microsoft.com/office/drawing/2014/main" val="2800840034"/>
                    </a:ext>
                  </a:extLst>
                </a:gridCol>
                <a:gridCol w="520717">
                  <a:extLst>
                    <a:ext uri="{9D8B030D-6E8A-4147-A177-3AD203B41FA5}">
                      <a16:colId xmlns:a16="http://schemas.microsoft.com/office/drawing/2014/main" val="4013602662"/>
                    </a:ext>
                  </a:extLst>
                </a:gridCol>
                <a:gridCol w="520717">
                  <a:extLst>
                    <a:ext uri="{9D8B030D-6E8A-4147-A177-3AD203B41FA5}">
                      <a16:colId xmlns:a16="http://schemas.microsoft.com/office/drawing/2014/main" val="3581119732"/>
                    </a:ext>
                  </a:extLst>
                </a:gridCol>
                <a:gridCol w="520717">
                  <a:extLst>
                    <a:ext uri="{9D8B030D-6E8A-4147-A177-3AD203B41FA5}">
                      <a16:colId xmlns:a16="http://schemas.microsoft.com/office/drawing/2014/main" val="731669138"/>
                    </a:ext>
                  </a:extLst>
                </a:gridCol>
                <a:gridCol w="520717">
                  <a:extLst>
                    <a:ext uri="{9D8B030D-6E8A-4147-A177-3AD203B41FA5}">
                      <a16:colId xmlns:a16="http://schemas.microsoft.com/office/drawing/2014/main" val="2117011062"/>
                    </a:ext>
                  </a:extLst>
                </a:gridCol>
                <a:gridCol w="520717">
                  <a:extLst>
                    <a:ext uri="{9D8B030D-6E8A-4147-A177-3AD203B41FA5}">
                      <a16:colId xmlns:a16="http://schemas.microsoft.com/office/drawing/2014/main" val="1820073333"/>
                    </a:ext>
                  </a:extLst>
                </a:gridCol>
                <a:gridCol w="520717">
                  <a:extLst>
                    <a:ext uri="{9D8B030D-6E8A-4147-A177-3AD203B41FA5}">
                      <a16:colId xmlns:a16="http://schemas.microsoft.com/office/drawing/2014/main" val="488773100"/>
                    </a:ext>
                  </a:extLst>
                </a:gridCol>
                <a:gridCol w="520717">
                  <a:extLst>
                    <a:ext uri="{9D8B030D-6E8A-4147-A177-3AD203B41FA5}">
                      <a16:colId xmlns:a16="http://schemas.microsoft.com/office/drawing/2014/main" val="1525793074"/>
                    </a:ext>
                  </a:extLst>
                </a:gridCol>
                <a:gridCol w="520717">
                  <a:extLst>
                    <a:ext uri="{9D8B030D-6E8A-4147-A177-3AD203B41FA5}">
                      <a16:colId xmlns:a16="http://schemas.microsoft.com/office/drawing/2014/main" val="3940205048"/>
                    </a:ext>
                  </a:extLst>
                </a:gridCol>
                <a:gridCol w="520717">
                  <a:extLst>
                    <a:ext uri="{9D8B030D-6E8A-4147-A177-3AD203B41FA5}">
                      <a16:colId xmlns:a16="http://schemas.microsoft.com/office/drawing/2014/main" val="1794772277"/>
                    </a:ext>
                  </a:extLst>
                </a:gridCol>
                <a:gridCol w="520717">
                  <a:extLst>
                    <a:ext uri="{9D8B030D-6E8A-4147-A177-3AD203B41FA5}">
                      <a16:colId xmlns:a16="http://schemas.microsoft.com/office/drawing/2014/main" val="2833690872"/>
                    </a:ext>
                  </a:extLst>
                </a:gridCol>
                <a:gridCol w="520717">
                  <a:extLst>
                    <a:ext uri="{9D8B030D-6E8A-4147-A177-3AD203B41FA5}">
                      <a16:colId xmlns:a16="http://schemas.microsoft.com/office/drawing/2014/main" val="1459334481"/>
                    </a:ext>
                  </a:extLst>
                </a:gridCol>
                <a:gridCol w="520717">
                  <a:extLst>
                    <a:ext uri="{9D8B030D-6E8A-4147-A177-3AD203B41FA5}">
                      <a16:colId xmlns:a16="http://schemas.microsoft.com/office/drawing/2014/main" val="706256551"/>
                    </a:ext>
                  </a:extLst>
                </a:gridCol>
                <a:gridCol w="520717">
                  <a:extLst>
                    <a:ext uri="{9D8B030D-6E8A-4147-A177-3AD203B41FA5}">
                      <a16:colId xmlns:a16="http://schemas.microsoft.com/office/drawing/2014/main" val="3217473648"/>
                    </a:ext>
                  </a:extLst>
                </a:gridCol>
                <a:gridCol w="520717">
                  <a:extLst>
                    <a:ext uri="{9D8B030D-6E8A-4147-A177-3AD203B41FA5}">
                      <a16:colId xmlns:a16="http://schemas.microsoft.com/office/drawing/2014/main" val="2661086930"/>
                    </a:ext>
                  </a:extLst>
                </a:gridCol>
                <a:gridCol w="520717">
                  <a:extLst>
                    <a:ext uri="{9D8B030D-6E8A-4147-A177-3AD203B41FA5}">
                      <a16:colId xmlns:a16="http://schemas.microsoft.com/office/drawing/2014/main" val="2592424113"/>
                    </a:ext>
                  </a:extLst>
                </a:gridCol>
                <a:gridCol w="520717">
                  <a:extLst>
                    <a:ext uri="{9D8B030D-6E8A-4147-A177-3AD203B41FA5}">
                      <a16:colId xmlns:a16="http://schemas.microsoft.com/office/drawing/2014/main" val="3910184742"/>
                    </a:ext>
                  </a:extLst>
                </a:gridCol>
                <a:gridCol w="520717">
                  <a:extLst>
                    <a:ext uri="{9D8B030D-6E8A-4147-A177-3AD203B41FA5}">
                      <a16:colId xmlns:a16="http://schemas.microsoft.com/office/drawing/2014/main" val="1467855790"/>
                    </a:ext>
                  </a:extLst>
                </a:gridCol>
                <a:gridCol w="676841">
                  <a:extLst>
                    <a:ext uri="{9D8B030D-6E8A-4147-A177-3AD203B41FA5}">
                      <a16:colId xmlns:a16="http://schemas.microsoft.com/office/drawing/2014/main" val="3169446745"/>
                    </a:ext>
                  </a:extLst>
                </a:gridCol>
                <a:gridCol w="565069">
                  <a:extLst>
                    <a:ext uri="{9D8B030D-6E8A-4147-A177-3AD203B41FA5}">
                      <a16:colId xmlns:a16="http://schemas.microsoft.com/office/drawing/2014/main" val="2255618524"/>
                    </a:ext>
                  </a:extLst>
                </a:gridCol>
                <a:gridCol w="721193">
                  <a:extLst>
                    <a:ext uri="{9D8B030D-6E8A-4147-A177-3AD203B41FA5}">
                      <a16:colId xmlns:a16="http://schemas.microsoft.com/office/drawing/2014/main" val="26295978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bg1"/>
                          </a:solidFill>
                        </a:rPr>
                        <a:t>Timesheet</a:t>
                      </a:r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 Ref. No.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Week 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Field (/Loc)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Product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Variety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Task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bg1"/>
                          </a:solidFill>
                        </a:rPr>
                        <a:t>Employee</a:t>
                      </a:r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Rate Type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Class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Pack Size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Quantity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Piece Rate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Hourly Rate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Start Time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Finish Time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Break</a:t>
                      </a:r>
                      <a:endParaRPr lang="en-GB" sz="7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Total  Time Worked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Earnings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Supervisor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Team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Created By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081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Automated Field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bg1"/>
                          </a:solidFill>
                        </a:rPr>
                        <a:t>Auto-gen based on date</a:t>
                      </a:r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bg1"/>
                          </a:solidFill>
                        </a:rPr>
                        <a:t>Prefilled with today’s date. Editable.</a:t>
                      </a:r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bg1"/>
                          </a:solidFill>
                        </a:rPr>
                        <a:t>Searchable dropdown with “Code – Name”</a:t>
                      </a:r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bg1"/>
                          </a:solidFill>
                        </a:rPr>
                        <a:t>Prefilled based on Field (IF LOCATION IS FIELD!)</a:t>
                      </a:r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bg1"/>
                          </a:solidFill>
                        </a:rPr>
                        <a:t>Dropdown if multiple for “product”</a:t>
                      </a:r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>
                          <a:solidFill>
                            <a:schemeClr val="bg1"/>
                          </a:solidFill>
                        </a:rPr>
                        <a:t>Searchable dropdown with “Code – Name”</a:t>
                      </a:r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>
                          <a:solidFill>
                            <a:schemeClr val="bg1"/>
                          </a:solidFill>
                        </a:rPr>
                        <a:t>Searchable dropdown with “Code – Name”</a:t>
                      </a:r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 err="1">
                          <a:solidFill>
                            <a:schemeClr val="bg1"/>
                          </a:solidFill>
                        </a:rPr>
                        <a:t>Dropdwon</a:t>
                      </a:r>
                      <a:r>
                        <a:rPr lang="en-US" sz="600" dirty="0">
                          <a:solidFill>
                            <a:schemeClr val="bg1"/>
                          </a:solidFill>
                        </a:rPr>
                        <a:t> “TW”, “PW”, “TTW”, “TPW”</a:t>
                      </a:r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bg1"/>
                          </a:solidFill>
                        </a:rPr>
                        <a:t>Settable if picking task. Creates as many “Sub rows” as classes.  Can specify class 1, 2 or 3. As many of each as needed</a:t>
                      </a:r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bg1"/>
                          </a:solidFill>
                        </a:rPr>
                        <a:t>Dropdown. Constrain to those for product.</a:t>
                      </a:r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bg1"/>
                          </a:solidFill>
                        </a:rPr>
                        <a:t>Not editable. Calculated from other entries.</a:t>
                      </a:r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>
                          <a:solidFill>
                            <a:schemeClr val="bg1"/>
                          </a:solidFill>
                        </a:rPr>
                        <a:t>Not editable. Calculated from other entries.</a:t>
                      </a:r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bg1"/>
                          </a:solidFill>
                        </a:rPr>
                        <a:t>Searchable Dropdown.</a:t>
                      </a:r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bg1"/>
                          </a:solidFill>
                        </a:rPr>
                        <a:t>If team work. Prefill with most recent. Searchable dropdown “Team Code – Team Name”</a:t>
                      </a:r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bg1"/>
                          </a:solidFill>
                        </a:rPr>
                        <a:t>Non-editable. Represents logged in user.</a:t>
                      </a:r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96184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2670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703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188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392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0279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B93D177-CE9B-43E6-932D-903D75B29672}"/>
              </a:ext>
            </a:extLst>
          </p:cNvPr>
          <p:cNvSpPr txBox="1"/>
          <p:nvPr/>
        </p:nvSpPr>
        <p:spPr>
          <a:xfrm>
            <a:off x="347241" y="752355"/>
            <a:ext cx="1068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Version 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7308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797E8E9-D844-40ED-8C02-CFB0386F4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403445"/>
              </p:ext>
            </p:extLst>
          </p:nvPr>
        </p:nvGraphicFramePr>
        <p:xfrm>
          <a:off x="167637" y="1917700"/>
          <a:ext cx="11856726" cy="2496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98">
                  <a:extLst>
                    <a:ext uri="{9D8B030D-6E8A-4147-A177-3AD203B41FA5}">
                      <a16:colId xmlns:a16="http://schemas.microsoft.com/office/drawing/2014/main" val="538028472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2800840034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4013602662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3581119732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1174383939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731669138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2117011062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1820073333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1299240348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488773100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1525793074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3940205048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1794772277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2833690872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4203060739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1459334481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706256551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3217473648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2661086930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2592424113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3910184742"/>
                    </a:ext>
                  </a:extLst>
                </a:gridCol>
                <a:gridCol w="460098">
                  <a:extLst>
                    <a:ext uri="{9D8B030D-6E8A-4147-A177-3AD203B41FA5}">
                      <a16:colId xmlns:a16="http://schemas.microsoft.com/office/drawing/2014/main" val="1467855790"/>
                    </a:ext>
                  </a:extLst>
                </a:gridCol>
                <a:gridCol w="598047">
                  <a:extLst>
                    <a:ext uri="{9D8B030D-6E8A-4147-A177-3AD203B41FA5}">
                      <a16:colId xmlns:a16="http://schemas.microsoft.com/office/drawing/2014/main" val="3169446745"/>
                    </a:ext>
                  </a:extLst>
                </a:gridCol>
                <a:gridCol w="499287">
                  <a:extLst>
                    <a:ext uri="{9D8B030D-6E8A-4147-A177-3AD203B41FA5}">
                      <a16:colId xmlns:a16="http://schemas.microsoft.com/office/drawing/2014/main" val="2255618524"/>
                    </a:ext>
                  </a:extLst>
                </a:gridCol>
                <a:gridCol w="637236">
                  <a:extLst>
                    <a:ext uri="{9D8B030D-6E8A-4147-A177-3AD203B41FA5}">
                      <a16:colId xmlns:a16="http://schemas.microsoft.com/office/drawing/2014/main" val="26295978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/>
                        <a:t>Timesheet</a:t>
                      </a:r>
                      <a:r>
                        <a:rPr lang="en-US" sz="700" dirty="0"/>
                        <a:t> Ref. No.</a:t>
                      </a:r>
                      <a:endParaRPr lang="en-GB" sz="700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Week </a:t>
                      </a:r>
                      <a:endParaRPr lang="en-GB" sz="700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Date</a:t>
                      </a:r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Field Code</a:t>
                      </a:r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Field Name</a:t>
                      </a:r>
                      <a:endParaRPr lang="en-GB" sz="7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Product</a:t>
                      </a:r>
                      <a:endParaRPr lang="en-GB" sz="7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Variety</a:t>
                      </a:r>
                      <a:endParaRPr lang="en-GB" sz="7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Task Code</a:t>
                      </a:r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Task Name</a:t>
                      </a:r>
                      <a:endParaRPr lang="en-GB" sz="7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Pack Size</a:t>
                      </a:r>
                      <a:endParaRPr kumimoji="0" lang="en-GB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Class</a:t>
                      </a:r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Quantity</a:t>
                      </a:r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Payroll Number</a:t>
                      </a:r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Employee Name</a:t>
                      </a:r>
                      <a:endParaRPr lang="en-GB" sz="7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Rate Type</a:t>
                      </a:r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Piece Rate</a:t>
                      </a:r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Hourly Rate</a:t>
                      </a:r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Start Time</a:t>
                      </a:r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Finish Time</a:t>
                      </a:r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Break</a:t>
                      </a:r>
                      <a:endParaRPr lang="en-GB" sz="7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Total  Time Worked</a:t>
                      </a:r>
                      <a:endParaRPr lang="en-GB" sz="7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Earnings</a:t>
                      </a:r>
                      <a:endParaRPr lang="en-GB" sz="7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Supervisor</a:t>
                      </a:r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Team Name</a:t>
                      </a:r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Created By</a:t>
                      </a:r>
                      <a:endParaRPr lang="en-GB" sz="7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081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Automated Field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Auto-gen based on date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Prefilled with today’s date. Editable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Populated Based on “Field Code”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Populated based on “Field Code”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Options based on “Field Code”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Populated Based on Task Code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" dirty="0">
                          <a:solidFill>
                            <a:schemeClr val="bg1"/>
                          </a:solidFill>
                        </a:rPr>
                        <a:t>Dropdown. </a:t>
                      </a:r>
                      <a:r>
                        <a:rPr lang="en-US" sz="500" dirty="0">
                          <a:solidFill>
                            <a:schemeClr val="bg1"/>
                          </a:solidFill>
                        </a:rPr>
                        <a:t>Constrain to those for product.</a:t>
                      </a:r>
                      <a:endParaRPr lang="en-GB" sz="5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Picking only. Dropdown to select one.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 err="1">
                          <a:solidFill>
                            <a:schemeClr val="bg1"/>
                          </a:solidFill>
                        </a:rPr>
                        <a:t>Filledbased</a:t>
                      </a:r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 on “</a:t>
                      </a:r>
                      <a:r>
                        <a:rPr lang="en-US" sz="700" dirty="0" err="1">
                          <a:solidFill>
                            <a:schemeClr val="bg1"/>
                          </a:solidFill>
                        </a:rPr>
                        <a:t>PayrolNumber</a:t>
                      </a:r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”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 err="1">
                          <a:solidFill>
                            <a:schemeClr val="bg1"/>
                          </a:solidFill>
                        </a:rPr>
                        <a:t>Dropdwon</a:t>
                      </a:r>
                      <a:r>
                        <a:rPr lang="en-US" sz="700" dirty="0">
                          <a:solidFill>
                            <a:schemeClr val="bg1"/>
                          </a:solidFill>
                        </a:rPr>
                        <a:t> “TW”, “PW”, “TTW”, “TPW”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bg1"/>
                          </a:solidFill>
                        </a:rPr>
                        <a:t>Not editable. Calculated from other entries.</a:t>
                      </a:r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dirty="0">
                          <a:solidFill>
                            <a:schemeClr val="bg1"/>
                          </a:solidFill>
                        </a:rPr>
                        <a:t>Not editable. Calculated from other entries.</a:t>
                      </a:r>
                      <a:endParaRPr lang="en-GB" sz="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00" dirty="0">
                          <a:solidFill>
                            <a:schemeClr val="bg1"/>
                          </a:solidFill>
                        </a:rPr>
                        <a:t>If team work. Prefill with most recent. Searchable dropdown “Team Code – Team Name”</a:t>
                      </a:r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725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188199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392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02797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A72E0A2-3771-4639-862F-CB2C5B6FEC0F}"/>
              </a:ext>
            </a:extLst>
          </p:cNvPr>
          <p:cNvSpPr txBox="1"/>
          <p:nvPr/>
        </p:nvSpPr>
        <p:spPr>
          <a:xfrm>
            <a:off x="381965" y="1099595"/>
            <a:ext cx="1060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Version B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824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342</Words>
  <Application>Microsoft Office PowerPoint</Application>
  <PresentationFormat>Widescreen</PresentationFormat>
  <Paragraphs>79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Lewis England</dc:creator>
  <cp:lastModifiedBy>Lewis England</cp:lastModifiedBy>
  <cp:revision>6</cp:revision>
  <dcterms:created xsi:type="dcterms:W3CDTF">2026-08-27T09:05:48Z</dcterms:created>
  <dcterms:modified xsi:type="dcterms:W3CDTF">2026-08-27T11:00:57Z</dcterms:modified>
</cp:coreProperties>
</file>